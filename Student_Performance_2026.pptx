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7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Average GPA by Major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52-4133-96DF-AD7A2B7586A5}"/>
              </c:ext>
            </c:extLst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52-4133-96DF-AD7A2B7586A5}"/>
              </c:ext>
            </c:extLst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52-4133-96DF-AD7A2B7586A5}"/>
              </c:ext>
            </c:extLst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52-4133-96DF-AD7A2B7586A5}"/>
              </c:ext>
            </c:extLst>
          </c:dPt>
          <c:dPt>
            <c:idx val="4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E52-4133-96DF-AD7A2B7586A5}"/>
              </c:ext>
            </c:extLst>
          </c:dPt>
          <c:dPt>
            <c:idx val="5"/>
            <c:invertIfNegative val="0"/>
            <c:bubble3D val="0"/>
            <c:spPr>
              <a:solidFill>
                <a:srgbClr val="64B5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E52-4133-96DF-AD7A2B7586A5}"/>
              </c:ext>
            </c:extLst>
          </c:dPt>
          <c:dPt>
            <c:idx val="6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E52-4133-96DF-AD7A2B7586A5}"/>
              </c:ext>
            </c:extLst>
          </c:dPt>
          <c:dPt>
            <c:idx val="7"/>
            <c:invertIfNegative val="0"/>
            <c:bubble3D val="0"/>
            <c:spPr>
              <a:solidFill>
                <a:srgbClr val="BBDEF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E52-4133-96DF-AD7A2B7586A5}"/>
              </c:ext>
            </c:extLst>
          </c:dPt>
          <c:dPt>
            <c:idx val="8"/>
            <c:invertIfNegative val="0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E52-4133-96DF-AD7A2B7586A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E52-4133-96DF-AD7A2B7586A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Mathematics</c:v>
                </c:pt>
                <c:pt idx="1">
                  <c:v>Biology</c:v>
                </c:pt>
                <c:pt idx="2">
                  <c:v>Engineering</c:v>
                </c:pt>
                <c:pt idx="3">
                  <c:v>Law</c:v>
                </c:pt>
                <c:pt idx="4">
                  <c:v>Medicine</c:v>
                </c:pt>
                <c:pt idx="5">
                  <c:v>Physics</c:v>
                </c:pt>
                <c:pt idx="6">
                  <c:v>Business</c:v>
                </c:pt>
                <c:pt idx="7">
                  <c:v>CS</c:v>
                </c:pt>
                <c:pt idx="8">
                  <c:v>Economics</c:v>
                </c:pt>
                <c:pt idx="9">
                  <c:v>Psychology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3.64</c:v>
                </c:pt>
                <c:pt idx="1">
                  <c:v>3.62</c:v>
                </c:pt>
                <c:pt idx="2">
                  <c:v>3.62</c:v>
                </c:pt>
                <c:pt idx="3">
                  <c:v>3.62</c:v>
                </c:pt>
                <c:pt idx="4">
                  <c:v>3.62</c:v>
                </c:pt>
                <c:pt idx="5">
                  <c:v>3.62</c:v>
                </c:pt>
                <c:pt idx="6">
                  <c:v>3.61</c:v>
                </c:pt>
                <c:pt idx="7">
                  <c:v>3.61</c:v>
                </c:pt>
                <c:pt idx="8">
                  <c:v>3.61</c:v>
                </c:pt>
                <c:pt idx="9">
                  <c:v>3.61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E52-4133-96DF-AD7A2B7586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68"/>
          <c:min val="3.55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Top Countries by GPA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1E-44D7-8BF5-4435F286000D}"/>
              </c:ext>
            </c:extLst>
          </c:dPt>
          <c:dPt>
            <c:idx val="1"/>
            <c:invertIfNegative val="0"/>
            <c:bubble3D val="0"/>
            <c:spPr>
              <a:solidFill>
                <a:srgbClr val="0D2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1E-44D7-8BF5-4435F286000D}"/>
              </c:ext>
            </c:extLst>
          </c:dPt>
          <c:dPt>
            <c:idx val="2"/>
            <c:invertIfNegative val="0"/>
            <c:bubble3D val="0"/>
            <c:spPr>
              <a:solidFill>
                <a:srgbClr val="1028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1E-44D7-8BF5-4435F286000D}"/>
              </c:ext>
            </c:extLst>
          </c:dPt>
          <c:dPt>
            <c:idx val="3"/>
            <c:invertIfNegative val="0"/>
            <c:bubble3D val="0"/>
            <c:spPr>
              <a:solidFill>
                <a:srgbClr val="1330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1E-44D7-8BF5-4435F286000D}"/>
              </c:ext>
            </c:extLst>
          </c:dPt>
          <c:dPt>
            <c:idx val="4"/>
            <c:invertIfNegative val="0"/>
            <c:bubble3D val="0"/>
            <c:spPr>
              <a:solidFill>
                <a:srgbClr val="1638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1E-44D7-8BF5-4435F286000D}"/>
              </c:ext>
            </c:extLst>
          </c:dPt>
          <c:dPt>
            <c:idx val="5"/>
            <c:invertIfNegative val="0"/>
            <c:bubble3D val="0"/>
            <c:spPr>
              <a:solidFill>
                <a:srgbClr val="1940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31E-44D7-8BF5-4435F286000D}"/>
              </c:ext>
            </c:extLst>
          </c:dPt>
          <c:dPt>
            <c:idx val="6"/>
            <c:invertIfNegative val="0"/>
            <c:bubble3D val="0"/>
            <c:spPr>
              <a:solidFill>
                <a:srgbClr val="1C48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31E-44D7-8BF5-4435F286000D}"/>
              </c:ext>
            </c:extLst>
          </c:dPt>
          <c:dPt>
            <c:idx val="7"/>
            <c:invertIfNegative val="0"/>
            <c:bubble3D val="0"/>
            <c:spPr>
              <a:solidFill>
                <a:srgbClr val="1F50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31E-44D7-8BF5-4435F28600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S.Korea</c:v>
                </c:pt>
                <c:pt idx="1">
                  <c:v>Bangladesh</c:v>
                </c:pt>
                <c:pt idx="2">
                  <c:v>Brazil</c:v>
                </c:pt>
                <c:pt idx="3">
                  <c:v>France</c:v>
                </c:pt>
                <c:pt idx="4">
                  <c:v>India</c:v>
                </c:pt>
                <c:pt idx="5">
                  <c:v>UK</c:v>
                </c:pt>
                <c:pt idx="6">
                  <c:v>Italy</c:v>
                </c:pt>
                <c:pt idx="7">
                  <c:v>Australia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3.64</c:v>
                </c:pt>
                <c:pt idx="1">
                  <c:v>3.63</c:v>
                </c:pt>
                <c:pt idx="2">
                  <c:v>3.63</c:v>
                </c:pt>
                <c:pt idx="3">
                  <c:v>3.63</c:v>
                </c:pt>
                <c:pt idx="4">
                  <c:v>3.63</c:v>
                </c:pt>
                <c:pt idx="5">
                  <c:v>3.63</c:v>
                </c:pt>
                <c:pt idx="6">
                  <c:v>3.62</c:v>
                </c:pt>
                <c:pt idx="7">
                  <c:v>3.61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31E-44D7-8BF5-4435F28600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68"/>
          <c:min val="3.55"/>
        </c:scaling>
        <c:delete val="0"/>
        <c:axPos val="b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Study Hours per Day vs GPA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ln w="381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0 hrs</c:v>
                </c:pt>
                <c:pt idx="1">
                  <c:v>1 hr</c:v>
                </c:pt>
                <c:pt idx="2">
                  <c:v>2 hrs</c:v>
                </c:pt>
                <c:pt idx="3">
                  <c:v>3 hrs</c:v>
                </c:pt>
                <c:pt idx="4">
                  <c:v>4 hrs</c:v>
                </c:pt>
                <c:pt idx="5">
                  <c:v>5 hrs</c:v>
                </c:pt>
                <c:pt idx="6">
                  <c:v>6 hrs</c:v>
                </c:pt>
                <c:pt idx="7">
                  <c:v>7 hrs</c:v>
                </c:pt>
                <c:pt idx="8">
                  <c:v>8+ hrs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2.89</c:v>
                </c:pt>
                <c:pt idx="1">
                  <c:v>3.16</c:v>
                </c:pt>
                <c:pt idx="2">
                  <c:v>3.44</c:v>
                </c:pt>
                <c:pt idx="3">
                  <c:v>3.66</c:v>
                </c:pt>
                <c:pt idx="4">
                  <c:v>3.85</c:v>
                </c:pt>
                <c:pt idx="5">
                  <c:v>3.94</c:v>
                </c:pt>
                <c:pt idx="6">
                  <c:v>3.99</c:v>
                </c:pt>
                <c:pt idx="7">
                  <c:v>3.99</c:v>
                </c:pt>
                <c:pt idx="8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16D-4EB2-ACAA-9A3436344D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Sleep Hours vs GPA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ln w="38100" cap="flat">
              <a:solidFill>
                <a:srgbClr val="0A16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1628"/>
              </a:solidFill>
              <a:ln w="9525" cap="flat">
                <a:solidFill>
                  <a:srgbClr val="0A162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4 hrs</c:v>
                </c:pt>
                <c:pt idx="1">
                  <c:v>5 hrs</c:v>
                </c:pt>
                <c:pt idx="2">
                  <c:v>6 hrs</c:v>
                </c:pt>
                <c:pt idx="3">
                  <c:v>7 hrs</c:v>
                </c:pt>
                <c:pt idx="4">
                  <c:v>8 hrs</c:v>
                </c:pt>
                <c:pt idx="5">
                  <c:v>9 hrs</c:v>
                </c:pt>
                <c:pt idx="6">
                  <c:v>10 hrs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3.41</c:v>
                </c:pt>
                <c:pt idx="1">
                  <c:v>3.46</c:v>
                </c:pt>
                <c:pt idx="2">
                  <c:v>3.53</c:v>
                </c:pt>
                <c:pt idx="3">
                  <c:v>3.63</c:v>
                </c:pt>
                <c:pt idx="4">
                  <c:v>3.69</c:v>
                </c:pt>
                <c:pt idx="5">
                  <c:v>3.75</c:v>
                </c:pt>
                <c:pt idx="6">
                  <c:v>3.81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B4F-497F-BCC5-BAFA48D4B7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Screen Time (hrs) vs Performance Score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Score</c:v>
                </c:pt>
              </c:strCache>
            </c:strRef>
          </c:tx>
          <c:spPr>
            <a:ln w="38100" cap="flat">
              <a:solidFill>
                <a:srgbClr val="EF53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5350"/>
              </a:solidFill>
              <a:ln w="9525" cap="flat">
                <a:solidFill>
                  <a:srgbClr val="EF535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1hr</c:v>
                </c:pt>
                <c:pt idx="1">
                  <c:v>2hrs</c:v>
                </c:pt>
                <c:pt idx="2">
                  <c:v>3hrs</c:v>
                </c:pt>
                <c:pt idx="3">
                  <c:v>4hrs</c:v>
                </c:pt>
                <c:pt idx="4">
                  <c:v>5hrs</c:v>
                </c:pt>
                <c:pt idx="5">
                  <c:v>6hrs</c:v>
                </c:pt>
                <c:pt idx="6">
                  <c:v>7hrs</c:v>
                </c:pt>
                <c:pt idx="7">
                  <c:v>8hrs</c:v>
                </c:pt>
                <c:pt idx="8">
                  <c:v>9hrs</c:v>
                </c:pt>
                <c:pt idx="9">
                  <c:v>10hrs</c:v>
                </c:pt>
                <c:pt idx="10">
                  <c:v>11hrs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93.6</c:v>
                </c:pt>
                <c:pt idx="1">
                  <c:v>95.3</c:v>
                </c:pt>
                <c:pt idx="2">
                  <c:v>95.2</c:v>
                </c:pt>
                <c:pt idx="3">
                  <c:v>95</c:v>
                </c:pt>
                <c:pt idx="4">
                  <c:v>94.4</c:v>
                </c:pt>
                <c:pt idx="5">
                  <c:v>94</c:v>
                </c:pt>
                <c:pt idx="6">
                  <c:v>93.6</c:v>
                </c:pt>
                <c:pt idx="7">
                  <c:v>93</c:v>
                </c:pt>
                <c:pt idx="8">
                  <c:v>91.9</c:v>
                </c:pt>
                <c:pt idx="9">
                  <c:v>91.8</c:v>
                </c:pt>
                <c:pt idx="10">
                  <c:v>90.8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B42-49FA-93C5-8153E33909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Social Media Hours vs GPA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ln w="38100" cap="flat">
              <a:solidFill>
                <a:srgbClr val="FFC10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107"/>
              </a:solidFill>
              <a:ln w="9525" cap="flat">
                <a:solidFill>
                  <a:srgbClr val="FFC107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0hrs</c:v>
                </c:pt>
                <c:pt idx="1">
                  <c:v>1hr</c:v>
                </c:pt>
                <c:pt idx="2">
                  <c:v>2hrs</c:v>
                </c:pt>
                <c:pt idx="3">
                  <c:v>3hrs</c:v>
                </c:pt>
                <c:pt idx="4">
                  <c:v>4hrs</c:v>
                </c:pt>
                <c:pt idx="5">
                  <c:v>5hrs</c:v>
                </c:pt>
                <c:pt idx="6">
                  <c:v>6hrs</c:v>
                </c:pt>
                <c:pt idx="7">
                  <c:v>7hrs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3.76</c:v>
                </c:pt>
                <c:pt idx="1">
                  <c:v>3.73</c:v>
                </c:pt>
                <c:pt idx="2">
                  <c:v>3.67</c:v>
                </c:pt>
                <c:pt idx="3">
                  <c:v>3.62</c:v>
                </c:pt>
                <c:pt idx="4">
                  <c:v>3.55</c:v>
                </c:pt>
                <c:pt idx="5">
                  <c:v>3.47</c:v>
                </c:pt>
                <c:pt idx="6">
                  <c:v>3.37</c:v>
                </c:pt>
                <c:pt idx="7">
                  <c:v>3.44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E1-471A-BA6E-AA2C213472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sv-SE" sz="1100" b="1" i="0" u="none" strike="noStrike">
                <a:solidFill>
                  <a:srgbClr val="0A1628"/>
                </a:solidFill>
                <a:latin typeface="Arial"/>
              </a:rPr>
              <a:t>Stress Level vs Avg GPA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solidFill>
              <a:srgbClr val="43A04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63-4A5B-ABB3-73EE2210667D}"/>
              </c:ext>
            </c:extLst>
          </c:dPt>
          <c:dPt>
            <c:idx val="1"/>
            <c:invertIfNegative val="0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63-4A5B-ABB3-73EE2210667D}"/>
              </c:ext>
            </c:extLst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763-4A5B-ABB3-73EE2210667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Stress</c:v>
                </c:pt>
                <c:pt idx="1">
                  <c:v>Medium Stress</c:v>
                </c:pt>
                <c:pt idx="2">
                  <c:v>High Stress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3.74</c:v>
                </c:pt>
                <c:pt idx="1">
                  <c:v>3.57</c:v>
                </c:pt>
                <c:pt idx="2">
                  <c:v>3.36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63-4A5B-ABB3-73EE221066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85"/>
          <c:min val="3.2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0A1628"/>
                </a:solidFill>
                <a:latin typeface="Arial"/>
              </a:rPr>
              <a:t>AI Tool Usage Hours vs GPA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47-4E6D-8642-54459CF06F01}"/>
              </c:ext>
            </c:extLst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47-4E6D-8642-54459CF06F01}"/>
              </c:ext>
            </c:extLst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47-4E6D-8642-54459CF06F01}"/>
              </c:ext>
            </c:extLst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47-4E6D-8642-54459CF06F01}"/>
              </c:ext>
            </c:extLst>
          </c:dPt>
          <c:dPt>
            <c:idx val="4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047-4E6D-8642-54459CF06F01}"/>
              </c:ext>
            </c:extLst>
          </c:dPt>
          <c:dPt>
            <c:idx val="5"/>
            <c:invertIfNegative val="0"/>
            <c:bubble3D val="0"/>
            <c:spPr>
              <a:solidFill>
                <a:srgbClr val="64B5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047-4E6D-8642-54459CF06F0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 hrs</c:v>
                </c:pt>
                <c:pt idx="1">
                  <c:v>1 hr</c:v>
                </c:pt>
                <c:pt idx="2">
                  <c:v>2 hrs</c:v>
                </c:pt>
                <c:pt idx="3">
                  <c:v>3 hrs</c:v>
                </c:pt>
                <c:pt idx="4">
                  <c:v>4 hrs</c:v>
                </c:pt>
                <c:pt idx="5">
                  <c:v>5 hrs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</c:v>
                </c:pt>
                <c:pt idx="1">
                  <c:v>3.61</c:v>
                </c:pt>
                <c:pt idx="2">
                  <c:v>3.63</c:v>
                </c:pt>
                <c:pt idx="3">
                  <c:v>3.64</c:v>
                </c:pt>
                <c:pt idx="4">
                  <c:v>3.65</c:v>
                </c:pt>
                <c:pt idx="5">
                  <c:v>3.64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047-4E6D-8642-54459CF06F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68"/>
          <c:min val="3.55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Academic Scores by Gender (Real Data)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Assignment Score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92.8</c:v>
                </c:pt>
                <c:pt idx="1">
                  <c:v>93.1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80-4E74-BBEE-F54205F6FB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Final Exam Score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95.9</c:v>
                </c:pt>
                <c:pt idx="1">
                  <c:v>96.2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80-4E74-BBEE-F54205F6FB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Performance Score</c:v>
                </c:pt>
              </c:strCache>
            </c:strRef>
          </c:tx>
          <c:spPr>
            <a:solidFill>
              <a:srgbClr val="FFC10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93.9</c:v>
                </c:pt>
                <c:pt idx="1">
                  <c:v>94.1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80-4E74-BBEE-F54205F6FB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8"/>
          <c:min val="90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Favorite AI Tool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10-4232-BE58-D4DCE3B7B9A7}"/>
              </c:ext>
            </c:extLst>
          </c:dPt>
          <c:dPt>
            <c:idx val="1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10-4232-BE58-D4DCE3B7B9A7}"/>
              </c:ext>
            </c:extLst>
          </c:dPt>
          <c:dPt>
            <c:idx val="2"/>
            <c:bubble3D val="0"/>
            <c:spPr>
              <a:solidFill>
                <a:srgbClr val="43A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10-4232-BE58-D4DCE3B7B9A7}"/>
              </c:ext>
            </c:extLst>
          </c:dPt>
          <c:dPt>
            <c:idx val="3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10-4232-BE58-D4DCE3B7B9A7}"/>
              </c:ext>
            </c:extLst>
          </c:dPt>
          <c:dPt>
            <c:idx val="4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10-4232-BE58-D4DCE3B7B9A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10-4232-BE58-D4DCE3B7B9A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10-4232-BE58-D4DCE3B7B9A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10-4232-BE58-D4DCE3B7B9A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10-4232-BE58-D4DCE3B7B9A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10-4232-BE58-D4DCE3B7B9A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ChatGPT</c:v>
                </c:pt>
                <c:pt idx="1">
                  <c:v>Gemini</c:v>
                </c:pt>
                <c:pt idx="2">
                  <c:v>Claude</c:v>
                </c:pt>
                <c:pt idx="3">
                  <c:v>Copilot</c:v>
                </c:pt>
                <c:pt idx="4">
                  <c:v>None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2124</c:v>
                </c:pt>
                <c:pt idx="1">
                  <c:v>2091</c:v>
                </c:pt>
                <c:pt idx="2">
                  <c:v>2051</c:v>
                </c:pt>
                <c:pt idx="3">
                  <c:v>2014</c:v>
                </c:pt>
                <c:pt idx="4">
                  <c:v>1720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10-4232-BE58-D4DCE3B7B9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Exercise Hours/Week vs Exam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Final Exam Score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29-4311-8364-255FFA9FF7AB}"/>
              </c:ext>
            </c:extLst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29-4311-8364-255FFA9FF7AB}"/>
              </c:ext>
            </c:extLst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29-4311-8364-255FFA9FF7AB}"/>
              </c:ext>
            </c:extLst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29-4311-8364-255FFA9FF7AB}"/>
              </c:ext>
            </c:extLst>
          </c:dPt>
          <c:dPt>
            <c:idx val="4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429-4311-8364-255FFA9FF7AB}"/>
              </c:ext>
            </c:extLst>
          </c:dPt>
          <c:dPt>
            <c:idx val="5"/>
            <c:invertIfNegative val="0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429-4311-8364-255FFA9FF7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0-2 hrs</c:v>
                </c:pt>
                <c:pt idx="1">
                  <c:v>2-4 hrs</c:v>
                </c:pt>
                <c:pt idx="2">
                  <c:v>4-6 hrs</c:v>
                </c:pt>
                <c:pt idx="3">
                  <c:v>6-8 hrs</c:v>
                </c:pt>
                <c:pt idx="4">
                  <c:v>8-10 hrs</c:v>
                </c:pt>
                <c:pt idx="5">
                  <c:v>10-12 hrs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95.9</c:v>
                </c:pt>
                <c:pt idx="1">
                  <c:v>96.1</c:v>
                </c:pt>
                <c:pt idx="2">
                  <c:v>96.2</c:v>
                </c:pt>
                <c:pt idx="3">
                  <c:v>95.8</c:v>
                </c:pt>
                <c:pt idx="4">
                  <c:v>96.5</c:v>
                </c:pt>
                <c:pt idx="5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429-4311-8364-255FFA9FF7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4.5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1" i="0" u="none" strike="noStrike">
                <a:solidFill>
                  <a:srgbClr val="0A1628"/>
                </a:solidFill>
                <a:latin typeface="Arial"/>
              </a:rPr>
              <a:t>Exam Prep Days vs Final Exam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Final Exam Score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7B1-4420-82FB-B3A6E0608F71}"/>
              </c:ext>
            </c:extLst>
          </c:dPt>
          <c:dPt>
            <c:idx val="1"/>
            <c:invertIfNegative val="0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B1-4420-82FB-B3A6E0608F71}"/>
              </c:ext>
            </c:extLst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B1-4420-82FB-B3A6E0608F71}"/>
              </c:ext>
            </c:extLst>
          </c:dPt>
          <c:dPt>
            <c:idx val="3"/>
            <c:invertIfNegative val="0"/>
            <c:bubble3D val="0"/>
            <c:spPr>
              <a:solidFill>
                <a:srgbClr val="43A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7B1-4420-82FB-B3A6E0608F7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1-3 days</c:v>
                </c:pt>
                <c:pt idx="1">
                  <c:v>4-7 days</c:v>
                </c:pt>
                <c:pt idx="2">
                  <c:v>8-14 days</c:v>
                </c:pt>
                <c:pt idx="3">
                  <c:v>15+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95.7</c:v>
                </c:pt>
                <c:pt idx="1">
                  <c:v>96.2</c:v>
                </c:pt>
                <c:pt idx="2">
                  <c:v>96.1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7B1-4420-82FB-B3A6E0608F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7.5"/>
          <c:min val="94.5"/>
        </c:scaling>
        <c:delete val="0"/>
        <c:axPos val="l"/>
        <c:majorGridlines>
          <c:spPr>
            <a:ln w="6350" cap="flat">
              <a:solidFill>
                <a:srgbClr val="BBDEF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C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893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754880" cy="4754880"/>
          </a:xfrm>
          <a:prstGeom prst="ellipse">
            <a:avLst/>
          </a:prstGeom>
          <a:solidFill>
            <a:srgbClr val="1E88E5">
              <a:alpha val="12000"/>
            </a:srgbClr>
          </a:solidFill>
          <a:ln w="12700">
            <a:solidFill>
              <a:srgbClr val="1E88E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90CAF9">
              <a:alpha val="15000"/>
            </a:srgbClr>
          </a:solidFill>
          <a:ln w="12700">
            <a:solidFill>
              <a:srgbClr val="90CAF9">
                <a:alpha val="18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14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Performance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47472" y="2487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2026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47472" y="3246120"/>
            <a:ext cx="50292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340156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university students · 13 countries · 10 majors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A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– University Students Performance &amp; Study Habits 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by Asif Zaman  |  kaggle.com/datasets/asifxzaman/university-students-performance-and-study-habits2026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3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Key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932688"/>
            <a:ext cx="1627632" cy="1463040"/>
          </a:xfrm>
          <a:prstGeom prst="rect">
            <a:avLst/>
          </a:prstGeom>
          <a:solidFill>
            <a:srgbClr val="B0C4D8">
              <a:alpha val="50000"/>
            </a:srgbClr>
          </a:solidFill>
          <a:ln w="12700">
            <a:solidFill>
              <a:srgbClr val="B0C4D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04672"/>
            <a:ext cx="16276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04672"/>
            <a:ext cx="1627632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6012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" y="13075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7744" y="1719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7744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countries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75104" y="932688"/>
            <a:ext cx="1627632" cy="1463040"/>
          </a:xfrm>
          <a:prstGeom prst="rect">
            <a:avLst/>
          </a:prstGeom>
          <a:solidFill>
            <a:srgbClr val="B0C4D8">
              <a:alpha val="50000"/>
            </a:srgbClr>
          </a:solidFill>
          <a:ln w="12700">
            <a:solidFill>
              <a:srgbClr val="B0C4D8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804672"/>
            <a:ext cx="16276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804672"/>
            <a:ext cx="1627632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960120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11680" y="13075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2011680" y="1719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GPA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011680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4.0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749040" y="932688"/>
            <a:ext cx="1627632" cy="1463040"/>
          </a:xfrm>
          <a:prstGeom prst="rect">
            <a:avLst/>
          </a:prstGeom>
          <a:solidFill>
            <a:srgbClr val="B0C4D8">
              <a:alpha val="50000"/>
            </a:srgbClr>
          </a:solidFill>
          <a:ln w="12700">
            <a:solidFill>
              <a:srgbClr val="B0C4D8">
                <a:alpha val="5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12464" y="804672"/>
            <a:ext cx="16276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12464" y="804672"/>
            <a:ext cx="1627632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904" y="96012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85616" y="13075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3785616" y="1719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785616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attendance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522976" y="932688"/>
            <a:ext cx="1627632" cy="1463040"/>
          </a:xfrm>
          <a:prstGeom prst="rect">
            <a:avLst/>
          </a:prstGeom>
          <a:solidFill>
            <a:srgbClr val="B0C4D8">
              <a:alpha val="50000"/>
            </a:srgbClr>
          </a:solidFill>
          <a:ln w="12700">
            <a:solidFill>
              <a:srgbClr val="B0C4D8">
                <a:alpha val="50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86400" y="804672"/>
            <a:ext cx="16276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486400" y="804672"/>
            <a:ext cx="162763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960120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59552" y="13075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3.51 hrs</a:t>
            </a:r>
            <a:endParaRPr lang="en-US" sz="1900" dirty="0"/>
          </a:p>
        </p:txBody>
      </p:sp>
      <p:sp>
        <p:nvSpPr>
          <p:cNvPr id="30" name="Text 24"/>
          <p:cNvSpPr/>
          <p:nvPr/>
        </p:nvSpPr>
        <p:spPr>
          <a:xfrm>
            <a:off x="5559552" y="1719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Study Hrs/Day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559552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296912" y="932688"/>
            <a:ext cx="1627632" cy="1463040"/>
          </a:xfrm>
          <a:prstGeom prst="rect">
            <a:avLst/>
          </a:prstGeom>
          <a:solidFill>
            <a:srgbClr val="B0C4D8">
              <a:alpha val="50000"/>
            </a:srgbClr>
          </a:solidFill>
          <a:ln w="12700">
            <a:solidFill>
              <a:srgbClr val="B0C4D8">
                <a:alpha val="50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260336" y="804672"/>
            <a:ext cx="162763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260336" y="804672"/>
            <a:ext cx="1627632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776" y="960120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33488" y="13075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</a:t>
            </a:r>
            <a:endParaRPr lang="en-US" sz="1900" dirty="0"/>
          </a:p>
        </p:txBody>
      </p:sp>
      <p:sp>
        <p:nvSpPr>
          <p:cNvPr id="37" name="Text 30"/>
          <p:cNvSpPr/>
          <p:nvPr/>
        </p:nvSpPr>
        <p:spPr>
          <a:xfrm>
            <a:off x="7333488" y="1719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Exam Score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333488" y="19019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274320" y="242316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5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889504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94360" y="2834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countries including Canada, India, UK, Bangladesh, Brazil, Japan, South Korea and more</a:t>
            </a:r>
            <a:endParaRPr lang="en-US" sz="11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3511296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94360" y="34564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academic majors: CS, Engineering, Medicine, Law, Biology, Business, Mathematics, Psychology, Physics, Economics</a:t>
            </a:r>
            <a:endParaRPr lang="en-US" sz="11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4133088"/>
            <a:ext cx="256032" cy="25603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94360" y="407822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split: 50% Female (4,999) · 50% Male (5,001) — near-perfect balance</a:t>
            </a:r>
            <a:endParaRPr lang="en-US" sz="11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2889504"/>
            <a:ext cx="256032" cy="25603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074920" y="2834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usage tracked: ChatGPT (21.2%), Gemini (20.9%), Claude (20.5%), Copilot (20.1%), None (17.2%)</a:t>
            </a:r>
            <a:endParaRPr lang="en-US" sz="11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3511296"/>
            <a:ext cx="256032" cy="256032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074920" y="34564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GPA, attendance, study hours, sleep, screen time, stress, income, internet quality and more</a:t>
            </a:r>
            <a:endParaRPr lang="en-US" sz="11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9160" y="4133088"/>
            <a:ext cx="256032" cy="256032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074920" y="407822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 combines final exam score (70%) + assignment score (30%)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by Major &amp; Top Countries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69280" y="749808"/>
          <a:ext cx="32918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886200"/>
            <a:ext cx="8595360" cy="987552"/>
          </a:xfrm>
          <a:prstGeom prst="rect">
            <a:avLst/>
          </a:prstGeom>
          <a:solidFill>
            <a:srgbClr val="EBF3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3886200"/>
            <a:ext cx="73152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5488" y="3931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Key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75488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differences across majors and countries are remarkably small (range: 3.61–3.64), suggesting the dataset reflects a high-achieving student cohort. Mathematics edges ahead at 3.64. South Korea, Bangladesh, Brazil, France, and India top the country rankings at 3.63+. The near-uniform distribution implies strong academic standards across all majors globally.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&amp; Sleep vs Academic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43891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749808"/>
          <a:ext cx="40233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749040"/>
            <a:ext cx="4160520" cy="1078992"/>
          </a:xfrm>
          <a:prstGeom prst="rect">
            <a:avLst/>
          </a:prstGeom>
          <a:solidFill>
            <a:srgbClr val="EBF3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3749040"/>
            <a:ext cx="73152" cy="10789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8912" y="38221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GPA gain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38912" y="42062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0→8 hrs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(2.89 → 4.0)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46320" y="3749040"/>
            <a:ext cx="4160520" cy="1078992"/>
          </a:xfrm>
          <a:prstGeom prst="rect">
            <a:avLst/>
          </a:prstGeom>
          <a:solidFill>
            <a:srgbClr val="EBF3FD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46320" y="3749040"/>
            <a:ext cx="73152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10912" y="38221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GPA gain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10912" y="42062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4→10 hrs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(3.41 → 3.81)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Time, Social Media &amp; Stress Impact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42062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749808"/>
          <a:ext cx="42062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274320" y="3493008"/>
          <a:ext cx="420624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4663440" y="3493008"/>
          <a:ext cx="420624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 &amp; AI Tool Preferences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394960" y="749808"/>
          <a:ext cx="3474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EBF3FD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4069080"/>
            <a:ext cx="73152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5488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Insights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75488" y="43891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students marginally outperform female students across all metrics (max gap: 0.3 pts). AI tools are distributed almost evenly — ChatGPT leads at 21.2%, followed closely by Gemini (20.9%), Claude (20.5%), and Copilot (20.1%). 17.2% of students use no AI tools at all.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Exercise, Exam Preparation &amp; Lifestyle Factors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42976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749808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529584"/>
            <a:ext cx="1993392" cy="1417320"/>
          </a:xfrm>
          <a:prstGeom prst="rect">
            <a:avLst/>
          </a:prstGeom>
          <a:solidFill>
            <a:srgbClr val="EBF3FD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3529584"/>
            <a:ext cx="1993392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Job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38679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job: GPA 3.62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job: GPA 3.62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65760" y="4370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impact!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441448" y="3529584"/>
            <a:ext cx="1993392" cy="1417320"/>
          </a:xfrm>
          <a:prstGeom prst="rect">
            <a:avLst/>
          </a:prstGeom>
          <a:solidFill>
            <a:srgbClr val="EBF3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41448" y="3529584"/>
            <a:ext cx="1993392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32888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32888" y="38679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Single: GPA 3.62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Relationship: 3.62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532888" y="4370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GPA difference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08576" y="3529584"/>
            <a:ext cx="1993392" cy="1417320"/>
          </a:xfrm>
          <a:prstGeom prst="rect">
            <a:avLst/>
          </a:prstGeom>
          <a:solidFill>
            <a:srgbClr val="EBF3FD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08576" y="3529584"/>
            <a:ext cx="1993392" cy="640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00016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Level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00016" y="38679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3.61 · Mid: 3.62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3.62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00016" y="4370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income effect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775704" y="3529584"/>
            <a:ext cx="1993392" cy="1417320"/>
          </a:xfrm>
          <a:prstGeom prst="rect">
            <a:avLst/>
          </a:prstGeom>
          <a:solidFill>
            <a:srgbClr val="EBF3FD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75704" y="3529584"/>
            <a:ext cx="1993392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67144" y="36118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Quality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867144" y="386791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Poor: 3.61 · Avg: 3.62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3.62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867144" y="4370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difference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Surprising Finding: Part-time job, income level, relationship status &amp; internet quality show virtually zero GPA impact in this dataset.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90CAF9">
              <a:alpha val="10000"/>
            </a:srgbClr>
          </a:solidFill>
          <a:ln w="12700">
            <a:solidFill>
              <a:srgbClr val="90CAF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from 10,000 student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788920" cy="166420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27889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31673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61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Study Time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" y="168249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rises sharply with study hours — from 2.89 (0 hrs) to 4.0 (8+ hrs). Every extra hour matters significantly.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82112" y="1170432"/>
            <a:ext cx="2788920" cy="166420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90CAF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82112" y="1170432"/>
            <a:ext cx="2788920" cy="64008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1673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1261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Adequate Sleep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91840" y="168249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sleeping 10 hrs average GPA 3.81 vs 3.41 at 4 hrs. Promote healthy sleep schedules on campus.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35624" y="1170432"/>
            <a:ext cx="2788920" cy="166420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35624" y="1170432"/>
            <a:ext cx="2788920" cy="6400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31673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38544" y="1261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Mental Stress Early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45352" y="1682496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Low-stress students score 3.74 GPA vs 3.36 for high-stress — an 11% gap. Counseling programs are essential.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28600" y="3072384"/>
            <a:ext cx="2788920" cy="166420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28600" y="3072384"/>
            <a:ext cx="278892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21868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31638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AI Tool Adoption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38328" y="358444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using AI tools 4 hrs/day average GPA 3.65 vs 3.60 for non-users. Structured AI literacy programs help.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182112" y="3072384"/>
            <a:ext cx="2788920" cy="166420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182112" y="3072384"/>
            <a:ext cx="278892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21868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85032" y="31638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Screen Time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291840" y="358444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drops from 95.3 at 2 hrs to 90.8 at 11 hrs of daily screen use. Digital wellness policies needed.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35624" y="3072384"/>
            <a:ext cx="2788920" cy="166420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135624" y="3072384"/>
            <a:ext cx="278892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3218688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38544" y="31638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Limits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45352" y="3584448"/>
            <a:ext cx="25786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drops from 3.76 (0 hrs social media) to 3.37 (6 hrs). Encourage mindful digital habits among students.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3891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859536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more, score higher — GPA jumps from 2.89 to 4.0 as daily study hours increase.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8549640" cy="18288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17904"/>
            <a:ext cx="43891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17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536192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matters — students sleeping 10 hrs score a GPA of 3.81 vs 3.41 for those sleeping only 4 hrs.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8549640" cy="18288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94560"/>
            <a:ext cx="43891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94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2212848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hurts grades — high-stress students score 11% lower GPA than low-stress peers.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706624"/>
            <a:ext cx="8549640" cy="18288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71216"/>
            <a:ext cx="43891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71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889504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social media, better grades — GPA drops from 3.76 to 3.37 as social media time rises.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383280"/>
            <a:ext cx="8549640" cy="18288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547872"/>
            <a:ext cx="43891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566160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help a little — moderate use (3–4 hrs/day) gives a slight GPA boost over non-users.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4059936"/>
            <a:ext cx="8549640" cy="18288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224528"/>
            <a:ext cx="438912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24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4242816"/>
            <a:ext cx="7973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jobs &amp; relationships don't affect GPA — all showed nearly zero difference across 10,000 students.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Asif Zaman · Kaggle · University Students Performance &amp; Study Habits 2026 · N = 10,000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1737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47472" y="25786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2026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7472" y="3154680"/>
            <a:ext cx="4572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7472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Asif Zaman · Kaggle · University Students Performance &amp; Study Habits 2026 · 10,000 students · 13 countries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871</Words>
  <Application>Microsoft Office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Analysis 2026</dc:title>
  <dc:subject>PptxGenJS Presentation</dc:subject>
  <dc:creator>PptxGenJS</dc:creator>
  <cp:lastModifiedBy>Dell 5580</cp:lastModifiedBy>
  <cp:revision>5</cp:revision>
  <dcterms:created xsi:type="dcterms:W3CDTF">2026-05-03T14:27:20Z</dcterms:created>
  <dcterms:modified xsi:type="dcterms:W3CDTF">2026-05-05T09:17:35Z</dcterms:modified>
</cp:coreProperties>
</file>